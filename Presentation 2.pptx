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1" r:id="rId2"/>
  </p:sldMasterIdLst>
  <p:notesMasterIdLst>
    <p:notesMasterId r:id="rId13"/>
  </p:notesMasterIdLst>
  <p:sldIdLst>
    <p:sldId id="276" r:id="rId3"/>
    <p:sldId id="329" r:id="rId4"/>
    <p:sldId id="332" r:id="rId5"/>
    <p:sldId id="330" r:id="rId6"/>
    <p:sldId id="318" r:id="rId7"/>
    <p:sldId id="328" r:id="rId8"/>
    <p:sldId id="327" r:id="rId9"/>
    <p:sldId id="331" r:id="rId10"/>
    <p:sldId id="269" r:id="rId11"/>
    <p:sldId id="314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6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orient="horz" pos="1281" userDrawn="1">
          <p15:clr>
            <a:srgbClr val="A4A3A4"/>
          </p15:clr>
        </p15:guide>
        <p15:guide id="5" orient="horz" pos="3932" userDrawn="1">
          <p15:clr>
            <a:srgbClr val="A4A3A4"/>
          </p15:clr>
        </p15:guide>
        <p15:guide id="6" orient="horz" pos="1110" userDrawn="1">
          <p15:clr>
            <a:srgbClr val="A4A3A4"/>
          </p15:clr>
        </p15:guide>
        <p15:guide id="7" pos="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70BF"/>
    <a:srgbClr val="CDBEAE"/>
    <a:srgbClr val="FEEEE5"/>
    <a:srgbClr val="002796"/>
    <a:srgbClr val="328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837" autoAdjust="0"/>
    <p:restoredTop sz="95537" autoAdjust="0"/>
  </p:normalViewPr>
  <p:slideViewPr>
    <p:cSldViewPr snapToGrid="0" showGuides="1">
      <p:cViewPr varScale="1">
        <p:scale>
          <a:sx n="62" d="100"/>
          <a:sy n="62" d="100"/>
        </p:scale>
        <p:origin x="224" y="1096"/>
      </p:cViewPr>
      <p:guideLst>
        <p:guide orient="horz" pos="566"/>
        <p:guide pos="7423"/>
        <p:guide orient="horz" pos="1281"/>
        <p:guide orient="horz" pos="3932"/>
        <p:guide orient="horz" pos="1110"/>
        <p:guide pos="2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3AEB5-C303-4762-90A0-AF697EB357C4}" type="datetimeFigureOut">
              <a:rPr lang="de-DE" smtClean="0"/>
              <a:t>07.11.25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C587F-9620-41AA-8442-404D6D5976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886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emf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/Unter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3601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1980001"/>
            <a:chOff x="304800" y="-468001"/>
            <a:chExt cx="10891200" cy="1980001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7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FB462B3-CEB1-499F-9A93-54BFC478EC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6401" y="6984001"/>
            <a:ext cx="7375299" cy="216000"/>
          </a:xfrm>
        </p:spPr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AD5C655-E4E0-43F9-B6D2-6069D0E19D5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883778" y="6984001"/>
            <a:ext cx="1899711" cy="216000"/>
          </a:xfrm>
        </p:spPr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C76965CB-8BC6-40F7-9EE1-139D5916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22" name="Vertikaler Textplatzhalter 2">
            <a:extLst>
              <a:ext uri="{FF2B5EF4-FFF2-40B4-BE49-F238E27FC236}">
                <a16:creationId xmlns:a16="http://schemas.microsoft.com/office/drawing/2014/main" id="{33F9B68E-1F14-4F70-9B07-D77470E5CBEB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1386000" y="5311011"/>
            <a:ext cx="10397484" cy="79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lang="de-DE" sz="2400" b="1" i="0" u="none" strike="noStrike" baseline="0" smtClean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Thema des Referats Thema des Referats Thema des Referats Thema des Referats </a:t>
            </a:r>
          </a:p>
        </p:txBody>
      </p:sp>
      <p:sp>
        <p:nvSpPr>
          <p:cNvPr id="23" name="Vertikaler Textplatzhalter 2">
            <a:extLst>
              <a:ext uri="{FF2B5EF4-FFF2-40B4-BE49-F238E27FC236}">
                <a16:creationId xmlns:a16="http://schemas.microsoft.com/office/drawing/2014/main" id="{6354D33E-28C2-47F2-851F-773C0FE0AB9E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1386000" y="6372000"/>
            <a:ext cx="10397489" cy="25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Referent / Fakultät / Studiengang | </a:t>
            </a:r>
            <a:r>
              <a:rPr lang="de-DE" dirty="0" err="1"/>
              <a:t>WiSe</a:t>
            </a:r>
            <a:r>
              <a:rPr lang="de-DE" dirty="0"/>
              <a:t>/</a:t>
            </a:r>
            <a:r>
              <a:rPr lang="de-DE" dirty="0" err="1"/>
              <a:t>SoSe</a:t>
            </a:r>
            <a:r>
              <a:rPr lang="de-DE" dirty="0"/>
              <a:t> 2017/19</a:t>
            </a:r>
          </a:p>
        </p:txBody>
      </p:sp>
      <p:pic>
        <p:nvPicPr>
          <p:cNvPr id="17" name="Logo HHN">
            <a:extLst>
              <a:ext uri="{FF2B5EF4-FFF2-40B4-BE49-F238E27FC236}">
                <a16:creationId xmlns:a16="http://schemas.microsoft.com/office/drawing/2014/main" id="{C84B1A6D-3DF8-4F58-88C7-3F544E41EF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>
            <a:extLst>
              <a:ext uri="{FF2B5EF4-FFF2-40B4-BE49-F238E27FC236}">
                <a16:creationId xmlns:a16="http://schemas.microsoft.com/office/drawing/2014/main" id="{0066C18D-46D1-4FD0-B624-24CB6294D971}"/>
              </a:ext>
            </a:extLst>
          </p:cNvPr>
          <p:cNvSpPr>
            <a:spLocks noGrp="1" noChangeAspect="1"/>
          </p:cNvSpPr>
          <p:nvPr>
            <p:ph type="body" orient="vert" idx="21" hasCustomPrompt="1"/>
          </p:nvPr>
        </p:nvSpPr>
        <p:spPr>
          <a:xfrm>
            <a:off x="1152000" y="4904882"/>
            <a:ext cx="128025" cy="204840"/>
          </a:xfrm>
          <a:blipFill>
            <a:blip r:embed="rId4"/>
            <a:stretch>
              <a:fillRect/>
            </a:stretch>
          </a:blipFill>
        </p:spPr>
        <p:txBody>
          <a:bodyPr vert="horz" wrap="none" tIns="7200" rIns="2574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</p:spTree>
    <p:extLst>
      <p:ext uri="{BB962C8B-B14F-4D97-AF65-F5344CB8AC3E}">
        <p14:creationId xmlns:p14="http://schemas.microsoft.com/office/powerpoint/2010/main" val="22526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30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386000" y="6372000"/>
            <a:ext cx="10398013" cy="252000"/>
          </a:xfrm>
        </p:spPr>
        <p:txBody>
          <a:bodyPr/>
          <a:lstStyle>
            <a:lvl1pPr>
              <a:defRPr sz="1300" b="1" spc="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6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37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17" name="Logo HHN">
            <a:extLst>
              <a:ext uri="{FF2B5EF4-FFF2-40B4-BE49-F238E27FC236}">
                <a16:creationId xmlns:a16="http://schemas.microsoft.com/office/drawing/2014/main" id="{0D523BEA-89A6-4B17-B26B-DE39D28062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>
            <a:extLst>
              <a:ext uri="{FF2B5EF4-FFF2-40B4-BE49-F238E27FC236}">
                <a16:creationId xmlns:a16="http://schemas.microsoft.com/office/drawing/2014/main" id="{1F5623E0-8437-4337-9981-520C5E63F5F5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>
          <a:xfrm>
            <a:off x="1026073" y="4914407"/>
            <a:ext cx="180000" cy="288000"/>
          </a:xfrm>
          <a:blipFill>
            <a:blip r:embed="rId4"/>
            <a:stretch>
              <a:fillRect/>
            </a:stretch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  <p:sp>
        <p:nvSpPr>
          <p:cNvPr id="20" name="Foliennummernplatzhalter 10">
            <a:extLst>
              <a:ext uri="{FF2B5EF4-FFF2-40B4-BE49-F238E27FC236}">
                <a16:creationId xmlns:a16="http://schemas.microsoft.com/office/drawing/2014/main" id="{F1B52C2C-34E9-4D95-8194-0BDCF58A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140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INSTITUTS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30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-359999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386000" y="6372000"/>
            <a:ext cx="10397484" cy="252000"/>
          </a:xfrm>
        </p:spPr>
        <p:txBody>
          <a:bodyPr/>
          <a:lstStyle>
            <a:lvl1pPr>
              <a:defRPr sz="1300" b="1" spc="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0"/>
            <a:chExt cx="10891200" cy="7668000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6" name="Fußzeile"/>
            <p:cNvSpPr txBox="1"/>
            <p:nvPr userDrawn="1"/>
          </p:nvSpPr>
          <p:spPr>
            <a:xfrm rot="10800000" flipH="1" flipV="1">
              <a:off x="304800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21" name="Logo HHN">
            <a:extLst>
              <a:ext uri="{FF2B5EF4-FFF2-40B4-BE49-F238E27FC236}">
                <a16:creationId xmlns:a16="http://schemas.microsoft.com/office/drawing/2014/main" id="{3E29E0E6-E9A4-45BD-AC05-6A30C96DF2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24" name="Vertikaler Textplatzhalter 2">
            <a:extLst>
              <a:ext uri="{FF2B5EF4-FFF2-40B4-BE49-F238E27FC236}">
                <a16:creationId xmlns:a16="http://schemas.microsoft.com/office/drawing/2014/main" id="{F57B46E9-4640-4F5B-9593-5773681046DA}"/>
              </a:ext>
            </a:extLst>
          </p:cNvPr>
          <p:cNvSpPr>
            <a:spLocks noGrp="1" noChangeAspect="1"/>
          </p:cNvSpPr>
          <p:nvPr>
            <p:ph type="body" orient="vert" idx="20" hasCustomPrompt="1"/>
          </p:nvPr>
        </p:nvSpPr>
        <p:spPr>
          <a:xfrm>
            <a:off x="1026000" y="4914406"/>
            <a:ext cx="180000" cy="288000"/>
          </a:xfrm>
          <a:blipFill>
            <a:blip r:embed="rId4"/>
            <a:stretch>
              <a:fillRect/>
            </a:stretch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54A18A00-C4DE-4EFB-897C-5FA7DAA4A4D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200" y="30531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PLATZHALTER INSTITUTS-LOGO über den Button Bild einfügen Logo laden 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BA0EB51-026E-42B4-8C5C-5B7C35506F2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622400" y="30470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PLATZHALTER INSTITUTS-LOGO über den Button Bild einfügen Logo laden </a:t>
            </a:r>
          </a:p>
        </p:txBody>
      </p:sp>
      <p:sp>
        <p:nvSpPr>
          <p:cNvPr id="22" name="Foliennummernplatzhalter 10">
            <a:extLst>
              <a:ext uri="{FF2B5EF4-FFF2-40B4-BE49-F238E27FC236}">
                <a16:creationId xmlns:a16="http://schemas.microsoft.com/office/drawing/2014/main" id="{6548D90A-54FB-4C5B-81B4-F47C54D4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407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727085" y="3768205"/>
            <a:ext cx="11056403" cy="1531425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5201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727081" y="5399999"/>
            <a:ext cx="11056403" cy="288000"/>
          </a:xfrm>
        </p:spPr>
        <p:txBody>
          <a:bodyPr/>
          <a:lstStyle>
            <a:lvl1pPr>
              <a:defRPr sz="1500" b="1" spc="8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grpSp>
        <p:nvGrpSpPr>
          <p:cNvPr id="13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4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6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7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8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19" name="Logo HHN">
            <a:extLst>
              <a:ext uri="{FF2B5EF4-FFF2-40B4-BE49-F238E27FC236}">
                <a16:creationId xmlns:a16="http://schemas.microsoft.com/office/drawing/2014/main" id="{89C540CF-8626-4B8A-AECD-DE59103C58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874" y="305319"/>
            <a:ext cx="2064615" cy="697187"/>
          </a:xfrm>
          <a:prstGeom prst="rect">
            <a:avLst/>
          </a:prstGeom>
        </p:spPr>
      </p:pic>
      <p:pic>
        <p:nvPicPr>
          <p:cNvPr id="21" name="Pfeil">
            <a:extLst>
              <a:ext uri="{FF2B5EF4-FFF2-40B4-BE49-F238E27FC236}">
                <a16:creationId xmlns:a16="http://schemas.microsoft.com/office/drawing/2014/main" id="{9B7553C5-A51D-4F5E-A635-F506117CD78D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943332"/>
            <a:ext cx="180000" cy="288000"/>
          </a:xfrm>
          <a:prstGeom prst="rect">
            <a:avLst/>
          </a:prstGeom>
        </p:spPr>
      </p:pic>
      <p:sp>
        <p:nvSpPr>
          <p:cNvPr id="23" name="Foliennummernplatzhalter 10">
            <a:extLst>
              <a:ext uri="{FF2B5EF4-FFF2-40B4-BE49-F238E27FC236}">
                <a16:creationId xmlns:a16="http://schemas.microsoft.com/office/drawing/2014/main" id="{24F3020E-5E4D-4241-944A-A34A6AA4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3917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7"/>
          <a:stretch/>
        </p:blipFill>
        <p:spPr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30728" y="2160001"/>
            <a:ext cx="10252761" cy="1531425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ZWISCHENTITEL TRENNERSEITE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1530728" y="3905249"/>
            <a:ext cx="10252761" cy="2338391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Zusatz Info</a:t>
            </a:r>
          </a:p>
        </p:txBody>
      </p:sp>
      <p:grpSp>
        <p:nvGrpSpPr>
          <p:cNvPr id="14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5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7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8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9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21" name="Logo HHN">
            <a:extLst>
              <a:ext uri="{FF2B5EF4-FFF2-40B4-BE49-F238E27FC236}">
                <a16:creationId xmlns:a16="http://schemas.microsoft.com/office/drawing/2014/main" id="{04368BE0-163A-441F-AAC7-4D3A9B1541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  <p:pic>
        <p:nvPicPr>
          <p:cNvPr id="23" name="Pfeil">
            <a:extLst>
              <a:ext uri="{FF2B5EF4-FFF2-40B4-BE49-F238E27FC236}">
                <a16:creationId xmlns:a16="http://schemas.microsoft.com/office/drawing/2014/main" id="{BDD3B1C6-5D65-4396-8DAA-35F5FC78C81C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000" y="2376000"/>
            <a:ext cx="18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0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06405" y="2033591"/>
            <a:ext cx="11377084" cy="42100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17315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//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5" y="2033701"/>
            <a:ext cx="11377084" cy="223188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idx="1" hasCustomPrompt="1"/>
          </p:nvPr>
        </p:nvSpPr>
        <p:spPr>
          <a:xfrm>
            <a:off x="406400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idx="14" hasCustomPrompt="1"/>
          </p:nvPr>
        </p:nvSpPr>
        <p:spPr>
          <a:xfrm>
            <a:off x="4265901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8125404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150172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/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0" y="2033702"/>
            <a:ext cx="7128933" cy="4209936"/>
          </a:xfrm>
        </p:spPr>
        <p:txBody>
          <a:bodyPr vert="horz"/>
          <a:lstStyle>
            <a:lvl3pPr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7920568" y="2097883"/>
            <a:ext cx="3862917" cy="3960020"/>
          </a:xfr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1123772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 userDrawn="1">
          <p15:clr>
            <a:srgbClr val="FBAE40"/>
          </p15:clr>
        </p15:guide>
        <p15:guide id="2" pos="4989" userDrawn="1">
          <p15:clr>
            <a:srgbClr val="FBAE40"/>
          </p15:clr>
        </p15:guide>
        <p15:guide id="3" orient="horz" pos="38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5" y="971550"/>
            <a:ext cx="12191999" cy="5886450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 &gt;&gt; Menü &gt; Einfügen &gt; Bilder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0" y="971552"/>
            <a:ext cx="12192000" cy="5886449"/>
          </a:xfrm>
          <a:blipFill>
            <a:blip r:embed="rId2"/>
            <a:stretch>
              <a:fillRect/>
            </a:stretch>
          </a:blipFill>
        </p:spPr>
        <p:txBody>
          <a:bodyPr vert="horz" lIns="1954800" tIns="1389600" rIns="1501200"/>
          <a:lstStyle>
            <a:lvl1pPr>
              <a:lnSpc>
                <a:spcPct val="108000"/>
              </a:lnSpc>
              <a:spcAft>
                <a:spcPts val="0"/>
              </a:spcAft>
              <a:defRPr sz="3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Zitat auf erster Ebene // für Autor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9883778" y="6515213"/>
            <a:ext cx="1899711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grpSp>
        <p:nvGrpSpPr>
          <p:cNvPr id="13" name="Regieanweisungen"/>
          <p:cNvGrpSpPr/>
          <p:nvPr userDrawn="1"/>
        </p:nvGrpSpPr>
        <p:grpSpPr>
          <a:xfrm>
            <a:off x="-2352000" y="-468000"/>
            <a:ext cx="17280000" cy="7668001"/>
            <a:chOff x="-1764000" y="-468001"/>
            <a:chExt cx="12960000" cy="7668001"/>
          </a:xfrm>
        </p:grpSpPr>
        <p:sp>
          <p:nvSpPr>
            <p:cNvPr id="14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6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8" name="Text // Listenebene erhöhen"/>
            <p:cNvSpPr txBox="1"/>
            <p:nvPr userDrawn="1"/>
          </p:nvSpPr>
          <p:spPr>
            <a:xfrm>
              <a:off x="-1764000" y="3042062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19" name="Text // Listenebene verringern"/>
            <p:cNvSpPr txBox="1"/>
            <p:nvPr userDrawn="1"/>
          </p:nvSpPr>
          <p:spPr>
            <a:xfrm>
              <a:off x="-1764000" y="3438062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verringern</a:t>
              </a:r>
            </a:p>
          </p:txBody>
        </p:sp>
        <p:sp>
          <p:nvSpPr>
            <p:cNvPr id="20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Absatz &gt; Listenebene erhöhen/verringern</a:t>
              </a:r>
            </a:p>
          </p:txBody>
        </p:sp>
        <p:pic>
          <p:nvPicPr>
            <p:cNvPr id="21" name="Bild // Listenebene verringern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792000" y="3438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Bild // Listenebene erhöhen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792000" y="3042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24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26" name="Logo HHN">
            <a:extLst>
              <a:ext uri="{FF2B5EF4-FFF2-40B4-BE49-F238E27FC236}">
                <a16:creationId xmlns:a16="http://schemas.microsoft.com/office/drawing/2014/main" id="{CD8A692E-F6AC-4E01-99E6-965C59B26C2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  <p:sp>
        <p:nvSpPr>
          <p:cNvPr id="28" name="Titel 9">
            <a:extLst>
              <a:ext uri="{FF2B5EF4-FFF2-40B4-BE49-F238E27FC236}">
                <a16:creationId xmlns:a16="http://schemas.microsoft.com/office/drawing/2014/main" id="{806AA2DC-065A-4166-A62B-2A250A3B3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4080"/>
            <a:ext cx="1321200" cy="1119600"/>
          </a:xfrm>
          <a:blipFill>
            <a:blip r:embed="rId6"/>
            <a:stretch>
              <a:fillRect/>
            </a:stretch>
          </a:blipFill>
        </p:spPr>
        <p:txBody>
          <a:bodyPr wrap="none" rIns="1454400" anchor="t" anchorCtr="0"/>
          <a:lstStyle>
            <a:lvl1pPr algn="r">
              <a:defRPr sz="1000" baseline="0"/>
            </a:lvl1pPr>
          </a:lstStyle>
          <a:p>
            <a:r>
              <a:rPr lang="pt-BR" dirty="0"/>
              <a:t>Bitte nicht</a:t>
            </a:r>
            <a:br>
              <a:rPr lang="pt-BR" dirty="0"/>
            </a:br>
            <a:r>
              <a:rPr lang="pt-BR" dirty="0"/>
              <a:t>verschieben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1501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fo //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5" y="2033700"/>
            <a:ext cx="11377084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Kurze Info zum Inhalt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405" y="2565404"/>
            <a:ext cx="5592519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4" hasCustomPrompt="1"/>
          </p:nvPr>
        </p:nvSpPr>
        <p:spPr>
          <a:xfrm>
            <a:off x="6192002" y="2565404"/>
            <a:ext cx="5591487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431733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fo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0" y="2033700"/>
            <a:ext cx="11377085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Kurze Info zum Inhalt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405" y="2565404"/>
            <a:ext cx="11377084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</p:txBody>
      </p:sp>
    </p:spTree>
    <p:extLst>
      <p:ext uri="{BB962C8B-B14F-4D97-AF65-F5344CB8AC3E}">
        <p14:creationId xmlns:p14="http://schemas.microsoft.com/office/powerpoint/2010/main" val="1814554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54071D8-9D4F-4737-9753-5A4E095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FA9BD1D-40AC-4766-9D87-7CD9F93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7C7B69-B03E-4D33-9FE9-AB156C53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1056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7"/>
          <a:stretch/>
        </p:blipFill>
        <p:spPr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2088000" y="4284000"/>
            <a:ext cx="9695489" cy="1959639"/>
          </a:xfrm>
        </p:spPr>
        <p:txBody>
          <a:bodyPr vert="horz"/>
          <a:lstStyle>
            <a:lvl1pPr marL="0" marR="0" indent="0" algn="l" defTabSz="91440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999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Bei Fragen kontaktieren Sie bitte:</a:t>
            </a:r>
            <a:br>
              <a:rPr lang="de-DE" dirty="0"/>
            </a:br>
            <a:r>
              <a:rPr lang="de-DE" dirty="0"/>
              <a:t>Vorname Nachname (Menü &gt; Listenebne erhöhen)</a:t>
            </a:r>
            <a:br>
              <a:rPr lang="de-DE" dirty="0"/>
            </a:br>
            <a:r>
              <a:rPr lang="de-DE" dirty="0"/>
              <a:t>Fakultät XY | Fachrichtung </a:t>
            </a:r>
            <a:br>
              <a:rPr lang="de-DE" dirty="0"/>
            </a:br>
            <a:r>
              <a:rPr lang="de-DE" dirty="0"/>
              <a:t>meike.muster@hs-heilbronn.de</a:t>
            </a:r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4" hasCustomPrompt="1"/>
          </p:nvPr>
        </p:nvSpPr>
        <p:spPr>
          <a:xfrm>
            <a:off x="2087996" y="2097092"/>
            <a:ext cx="9695489" cy="1915337"/>
          </a:xfrm>
        </p:spPr>
        <p:txBody>
          <a:bodyPr vert="horz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30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Schlusswort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BCE84AFA-A866-402D-A07B-4A22F5614A5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576000" y="4716000"/>
            <a:ext cx="1080000" cy="10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2983600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54071D8-9D4F-4737-9753-5A4E095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FA9BD1D-40AC-4766-9D87-7CD9F93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7C7B69-B03E-4D33-9FE9-AB156C53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635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4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5" name="Text // Listenebene erhöhen"/>
            <p:cNvSpPr txBox="1"/>
            <p:nvPr userDrawn="1"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16" name="Text // Listenebene verringern"/>
            <p:cNvSpPr txBox="1"/>
            <p:nvPr userDrawn="1"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verringern</a:t>
              </a:r>
            </a:p>
          </p:txBody>
        </p:sp>
        <p:sp>
          <p:nvSpPr>
            <p:cNvPr id="17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Absatz &gt; Listenebene erhöhen/verringern</a:t>
              </a:r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21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cxnSp>
        <p:nvCxnSpPr>
          <p:cNvPr id="12" name="Footerlinie"/>
          <p:cNvCxnSpPr/>
          <p:nvPr/>
        </p:nvCxnSpPr>
        <p:spPr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eaderlinie"/>
          <p:cNvCxnSpPr/>
          <p:nvPr/>
        </p:nvCxnSpPr>
        <p:spPr>
          <a:xfrm>
            <a:off x="406400" y="1800000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06405" y="898525"/>
            <a:ext cx="11377084" cy="863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6402" y="2033591"/>
            <a:ext cx="11377084" cy="42100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06401" y="274365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 spc="40" baseline="0">
                <a:solidFill>
                  <a:schemeClr val="tx1"/>
                </a:solidFill>
                <a:latin typeface="+mj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9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spc="40" baseline="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9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2pPr>
            <a:lvl3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3pPr>
            <a:lvl4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4pPr>
            <a:lvl5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5pPr>
            <a:lvl6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6pPr>
            <a:lvl7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7pPr>
            <a:lvl8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8pPr>
            <a:lvl9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9pPr>
          </a:lstStyle>
          <a:p>
            <a:r>
              <a:rPr lang="de-DE" dirty="0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2" name="Logo HHN">
            <a:extLst>
              <a:ext uri="{FF2B5EF4-FFF2-40B4-BE49-F238E27FC236}">
                <a16:creationId xmlns:a16="http://schemas.microsoft.com/office/drawing/2014/main" id="{A53D8DCE-F532-4BEA-B78C-F0F7C4652FE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7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6" r:id="rId2"/>
    <p:sldLayoutId id="2147483670" r:id="rId3"/>
    <p:sldLayoutId id="2147483649" r:id="rId4"/>
    <p:sldLayoutId id="2147483667" r:id="rId5"/>
    <p:sldLayoutId id="2147483650" r:id="rId6"/>
    <p:sldLayoutId id="2147483660" r:id="rId7"/>
    <p:sldLayoutId id="2147483661" r:id="rId8"/>
    <p:sldLayoutId id="2147483662" r:id="rId9"/>
    <p:sldLayoutId id="2147483664" r:id="rId10"/>
    <p:sldLayoutId id="2147483665" r:id="rId11"/>
    <p:sldLayoutId id="2147483654" r:id="rId12"/>
    <p:sldLayoutId id="2147483668" r:id="rId13"/>
  </p:sldLayoutIdLst>
  <p:hf hdr="0"/>
  <p:txStyles>
    <p:titleStyle>
      <a:lvl1pPr marL="0" indent="0" algn="l" defTabSz="914407" rtl="0" eaLnBrk="1" latinLnBrk="0" hangingPunct="1">
        <a:lnSpc>
          <a:spcPct val="94000"/>
        </a:lnSpc>
        <a:spcBef>
          <a:spcPts val="0"/>
        </a:spcBef>
        <a:buFont typeface="Arial" panose="020B0604020202020204" pitchFamily="34" charset="0"/>
        <a:buNone/>
        <a:defRPr sz="3000" b="1" kern="1200" cap="all" spc="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 rtl="0" eaLnBrk="1" latinLnBrk="0" hangingPunct="1">
        <a:lnSpc>
          <a:spcPct val="105000"/>
        </a:lnSpc>
        <a:spcBef>
          <a:spcPts val="0"/>
        </a:spcBef>
        <a:spcAft>
          <a:spcPts val="1999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2201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88003" indent="-288003" algn="l" defTabSz="914407" rtl="0" eaLnBrk="1" latinLnBrk="0" hangingPunct="1">
        <a:lnSpc>
          <a:spcPct val="105000"/>
        </a:lnSpc>
        <a:spcBef>
          <a:spcPts val="599"/>
        </a:spcBef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2201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88003" indent="0" algn="l" defTabSz="914407" rtl="0" eaLnBrk="1" latinLnBrk="0" hangingPunct="1">
        <a:lnSpc>
          <a:spcPct val="108000"/>
        </a:lnSpc>
        <a:spcBef>
          <a:spcPts val="130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04004" indent="-216001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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3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1281" userDrawn="1">
          <p15:clr>
            <a:srgbClr val="F26B43"/>
          </p15:clr>
        </p15:guide>
        <p15:guide id="4" orient="horz" pos="566" userDrawn="1">
          <p15:clr>
            <a:srgbClr val="F26B43"/>
          </p15:clr>
        </p15:guide>
        <p15:guide id="5" orient="horz" pos="1110" userDrawn="1">
          <p15:clr>
            <a:srgbClr val="F26B43"/>
          </p15:clr>
        </p15:guide>
        <p15:guide id="6" orient="horz" pos="3932" userDrawn="1">
          <p15:clr>
            <a:srgbClr val="F26B43"/>
          </p15:clr>
        </p15:guide>
        <p15:guide id="7" orient="horz" pos="1321" userDrawn="1">
          <p15:clr>
            <a:srgbClr val="547EBF"/>
          </p15:clr>
        </p15:guide>
        <p15:guide id="8" orient="horz" pos="611" userDrawn="1">
          <p15:clr>
            <a:srgbClr val="547EB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4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5" name="Text // Listenebene erhöhen"/>
            <p:cNvSpPr txBox="1"/>
            <p:nvPr userDrawn="1"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16" name="Text // Listenebene verringern"/>
            <p:cNvSpPr txBox="1"/>
            <p:nvPr userDrawn="1"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verringern</a:t>
              </a:r>
            </a:p>
          </p:txBody>
        </p:sp>
        <p:sp>
          <p:nvSpPr>
            <p:cNvPr id="17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Absatz &gt; Listenebene erhöhen/verringern</a:t>
              </a:r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21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cxnSp>
        <p:nvCxnSpPr>
          <p:cNvPr id="12" name="Footerlinie"/>
          <p:cNvCxnSpPr/>
          <p:nvPr/>
        </p:nvCxnSpPr>
        <p:spPr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06401" y="274365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 spc="40" baseline="0">
                <a:solidFill>
                  <a:schemeClr val="tx1"/>
                </a:solidFill>
                <a:latin typeface="+mj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9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spc="40" baseline="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9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2pPr>
            <a:lvl3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3pPr>
            <a:lvl4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4pPr>
            <a:lvl5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5pPr>
            <a:lvl6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6pPr>
            <a:lvl7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7pPr>
            <a:lvl8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8pPr>
            <a:lvl9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9pPr>
          </a:lstStyle>
          <a:p>
            <a:r>
              <a:rPr lang="de-DE" dirty="0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2" name="Logo HHN">
            <a:extLst>
              <a:ext uri="{FF2B5EF4-FFF2-40B4-BE49-F238E27FC236}">
                <a16:creationId xmlns:a16="http://schemas.microsoft.com/office/drawing/2014/main" id="{A53D8DCE-F532-4BEA-B78C-F0F7C4652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3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/>
  <p:txStyles>
    <p:titleStyle>
      <a:lvl1pPr marL="0" indent="0" algn="l" defTabSz="914407" rtl="0" eaLnBrk="1" latinLnBrk="0" hangingPunct="1">
        <a:lnSpc>
          <a:spcPct val="94000"/>
        </a:lnSpc>
        <a:spcBef>
          <a:spcPts val="0"/>
        </a:spcBef>
        <a:buFont typeface="Arial" panose="020B0604020202020204" pitchFamily="34" charset="0"/>
        <a:buNone/>
        <a:defRPr sz="3000" b="1" kern="1200" cap="all" spc="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 rtl="0" eaLnBrk="1" latinLnBrk="0" hangingPunct="1">
        <a:lnSpc>
          <a:spcPct val="105000"/>
        </a:lnSpc>
        <a:spcBef>
          <a:spcPts val="0"/>
        </a:spcBef>
        <a:spcAft>
          <a:spcPts val="1999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2201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88003" indent="-288003" algn="l" defTabSz="914407" rtl="0" eaLnBrk="1" latinLnBrk="0" hangingPunct="1">
        <a:lnSpc>
          <a:spcPct val="105000"/>
        </a:lnSpc>
        <a:spcBef>
          <a:spcPts val="599"/>
        </a:spcBef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2201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88003" indent="0" algn="l" defTabSz="914407" rtl="0" eaLnBrk="1" latinLnBrk="0" hangingPunct="1">
        <a:lnSpc>
          <a:spcPct val="108000"/>
        </a:lnSpc>
        <a:spcBef>
          <a:spcPts val="130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04004" indent="-216001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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3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1281" userDrawn="1">
          <p15:clr>
            <a:srgbClr val="F26B43"/>
          </p15:clr>
        </p15:guide>
        <p15:guide id="4" orient="horz" pos="566" userDrawn="1">
          <p15:clr>
            <a:srgbClr val="F26B43"/>
          </p15:clr>
        </p15:guide>
        <p15:guide id="5" orient="horz" pos="1110" userDrawn="1">
          <p15:clr>
            <a:srgbClr val="F26B43"/>
          </p15:clr>
        </p15:guide>
        <p15:guide id="6" orient="horz" pos="3932" userDrawn="1">
          <p15:clr>
            <a:srgbClr val="F26B43"/>
          </p15:clr>
        </p15:guide>
        <p15:guide id="7" orient="horz" pos="1321" userDrawn="1">
          <p15:clr>
            <a:srgbClr val="547EBF"/>
          </p15:clr>
        </p15:guide>
        <p15:guide id="8" orient="horz" pos="611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aerial-photograph-of-farm-field-3266773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Bildplatzhalter 5">
            <a:extLst>
              <a:ext uri="{FF2B5EF4-FFF2-40B4-BE49-F238E27FC236}">
                <a16:creationId xmlns:a16="http://schemas.microsoft.com/office/drawing/2014/main" id="{4549363F-4C74-4D7D-A15B-8680B1C8C9E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4149" b="24149"/>
          <a:stretch/>
        </p:blipFill>
        <p:spPr/>
      </p:pic>
      <p:sp>
        <p:nvSpPr>
          <p:cNvPr id="33" name="Titel 32">
            <a:extLst>
              <a:ext uri="{FF2B5EF4-FFF2-40B4-BE49-F238E27FC236}">
                <a16:creationId xmlns:a16="http://schemas.microsoft.com/office/drawing/2014/main" id="{F629E931-35B5-4C35-9E4F-4B92E956C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Face Detection</a:t>
            </a:r>
            <a:endParaRPr lang="en-GB" noProof="0" dirty="0"/>
          </a:p>
        </p:txBody>
      </p:sp>
      <p:sp>
        <p:nvSpPr>
          <p:cNvPr id="35" name="Vertikaler Textplatzhalter 34">
            <a:extLst>
              <a:ext uri="{FF2B5EF4-FFF2-40B4-BE49-F238E27FC236}">
                <a16:creationId xmlns:a16="http://schemas.microsoft.com/office/drawing/2014/main" id="{AD697CB5-A06F-4E3D-9B1D-CC9CE71BD81D}"/>
              </a:ext>
            </a:extLst>
          </p:cNvPr>
          <p:cNvSpPr>
            <a:spLocks noGrp="1"/>
          </p:cNvSpPr>
          <p:nvPr>
            <p:ph type="body" orient="vert" idx="19"/>
          </p:nvPr>
        </p:nvSpPr>
        <p:spPr>
          <a:xfrm>
            <a:off x="1386000" y="5266012"/>
            <a:ext cx="10397484" cy="1060990"/>
          </a:xfrm>
        </p:spPr>
        <p:txBody>
          <a:bodyPr/>
          <a:lstStyle/>
          <a:p>
            <a:r>
              <a:rPr lang="en-GB" sz="2200" noProof="0" dirty="0"/>
              <a:t>Supervised by:</a:t>
            </a:r>
          </a:p>
          <a:p>
            <a:r>
              <a:rPr lang="en-GB" sz="2200" noProof="0" dirty="0"/>
              <a:t>	Prof. Dr.-Ing. Dieter Maier</a:t>
            </a:r>
            <a:endParaRPr lang="en-GB" sz="2200" dirty="0"/>
          </a:p>
        </p:txBody>
      </p:sp>
      <p:sp>
        <p:nvSpPr>
          <p:cNvPr id="20" name="Vertikaler Textplatzhalter 19">
            <a:extLst>
              <a:ext uri="{FF2B5EF4-FFF2-40B4-BE49-F238E27FC236}">
                <a16:creationId xmlns:a16="http://schemas.microsoft.com/office/drawing/2014/main" id="{399E87F5-7673-4BE6-B8D1-6DD1FBCB3ED9}"/>
              </a:ext>
            </a:extLst>
          </p:cNvPr>
          <p:cNvSpPr>
            <a:spLocks noGrp="1"/>
          </p:cNvSpPr>
          <p:nvPr>
            <p:ph type="body" orient="vert" idx="2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DAC5DE24-9B35-41EB-97D9-0C5B5A92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BE0E6791-45B3-48E1-89B9-68989E14A2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6000" y="6390000"/>
            <a:ext cx="7375299" cy="216000"/>
          </a:xfrm>
        </p:spPr>
        <p:txBody>
          <a:bodyPr/>
          <a:lstStyle/>
          <a:p>
            <a:r>
              <a:rPr lang="en-GB" sz="1300" b="1" spc="60" noProof="0" dirty="0">
                <a:solidFill>
                  <a:schemeClr val="bg1"/>
                </a:solidFill>
                <a:latin typeface="+mj-lt"/>
              </a:rPr>
              <a:t>Omar Fahmy &amp; Mostafa Ahmed | COURSE CRV |  WS 2025/26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FCE4F580-65EF-46C2-8EB0-5A64FDC329C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B3D1-F233-BABE-2A9D-F36D30E5AE8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361043" y="6407998"/>
            <a:ext cx="5422446" cy="216001"/>
          </a:xfrm>
        </p:spPr>
        <p:txBody>
          <a:bodyPr/>
          <a:lstStyle/>
          <a:p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1132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6594-8DC9-FF76-8FDC-65A1F0C8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D6C0796-E3CD-743E-8839-503B8FF5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Goals</a:t>
            </a:r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0F6BDA6A-94B4-2793-732E-F2FAC511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2851FC73-B842-5EE7-C6B7-62BC28AF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7D2F3FDF-2718-E261-F6B1-FEF864F1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CDBE0-2AD6-F206-90E1-30B7138802A0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FC4F54A-7041-BE2E-A722-7F5CDC7CB970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81096-6C17-64FC-6A2C-12D7F7AFE519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379585A-7C5E-08B6-4047-456530DF4717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pPr lvl="1"/>
            <a:r>
              <a:rPr lang="en-US" dirty="0"/>
              <a:t>Illumination, and shadows</a:t>
            </a:r>
          </a:p>
          <a:p>
            <a:pPr lvl="1"/>
            <a:r>
              <a:rPr lang="en-US" dirty="0"/>
              <a:t>Occlusion: if the face is covered. </a:t>
            </a:r>
          </a:p>
          <a:p>
            <a:pPr lvl="1"/>
            <a:r>
              <a:rPr lang="en-US" dirty="0"/>
              <a:t>Distance from camera, resolution of camera and angle of camera. </a:t>
            </a:r>
          </a:p>
          <a:p>
            <a:pPr lvl="1"/>
            <a:r>
              <a:rPr lang="en-US" dirty="0"/>
              <a:t>Skin color and skin tones or racial appearance </a:t>
            </a:r>
          </a:p>
          <a:p>
            <a:pPr lvl="1"/>
            <a:r>
              <a:rPr lang="en-US" dirty="0"/>
              <a:t>Detect what will happen with movements of the person. </a:t>
            </a:r>
          </a:p>
          <a:p>
            <a:pPr lvl="1"/>
            <a:endParaRPr lang="en-US" dirty="0"/>
          </a:p>
          <a:p>
            <a:pPr lvl="2"/>
            <a:r>
              <a:rPr lang="en-US" b="1" dirty="0"/>
              <a:t>Excel </a:t>
            </a:r>
            <a:r>
              <a:rPr lang="en-US" b="1" dirty="0" err="1"/>
              <a:t>gantt</a:t>
            </a:r>
            <a:r>
              <a:rPr lang="en-US" b="1" dirty="0"/>
              <a:t> chart:</a:t>
            </a:r>
          </a:p>
        </p:txBody>
      </p:sp>
    </p:spTree>
    <p:extLst>
      <p:ext uri="{BB962C8B-B14F-4D97-AF65-F5344CB8AC3E}">
        <p14:creationId xmlns:p14="http://schemas.microsoft.com/office/powerpoint/2010/main" val="413730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3F25-B6F4-03FB-6CEB-B4C1851E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82D70F-0D65-8B6F-562F-834CF6C2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US" dirty="0"/>
              <a:t>Excel </a:t>
            </a:r>
            <a:r>
              <a:rPr lang="en-US" dirty="0" err="1"/>
              <a:t>gantt</a:t>
            </a:r>
            <a:r>
              <a:rPr lang="en-US" dirty="0"/>
              <a:t> chart</a:t>
            </a:r>
            <a:endParaRPr lang="en-GB" noProof="0" dirty="0"/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B96C44E0-F3C4-465C-25C9-E10001DF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3A7BFBE8-7E69-F63C-902B-C1D592DB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9CF2AE1A-19CC-08F1-5943-CAD354F8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5E0151-B867-22F9-785E-7A0ED2F1CAE6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20574C-8E8D-7784-72C7-AC3CDB6CEB27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B2F16-18EF-D0CC-0CAC-B09F8024D303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pic>
        <p:nvPicPr>
          <p:cNvPr id="14" name="Picture 13" descr="A close-up of a project&#10;&#10;AI-generated content may be incorrect.">
            <a:extLst>
              <a:ext uri="{FF2B5EF4-FFF2-40B4-BE49-F238E27FC236}">
                <a16:creationId xmlns:a16="http://schemas.microsoft.com/office/drawing/2014/main" id="{54CBE35A-7FB5-6B05-C068-B1A9695FC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57" y="1976080"/>
            <a:ext cx="11369043" cy="361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03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2041-EC24-0307-7075-4F6C37AF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57BEBD9-A00B-9DE0-6C42-64AB9C49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problems</a:t>
            </a:r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79971554-07F0-798F-F9FE-C1C0EA25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DE3FF1C0-E2A0-6BD2-F2AA-04F0C716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DDD9F296-1867-F5DC-F8B1-421F43E8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F27615-980E-9EB4-2CDC-0139A59FA4B2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026347-1565-D808-3AF3-0DCB411E5711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D908C-E3C5-03C6-6371-C19E2158D9C2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E3834-1085-7A5C-1892-E7D9EFDF96FB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pPr lvl="1"/>
            <a:r>
              <a:rPr lang="en-US" dirty="0"/>
              <a:t>cap = cv2.VideoCapture(0, cv2.CAP_AVFOUNDATION)</a:t>
            </a:r>
          </a:p>
          <a:p>
            <a:pPr lvl="1"/>
            <a:r>
              <a:rPr lang="en-GB" dirty="0"/>
              <a:t>Video runs faster than actual (different fps)</a:t>
            </a:r>
          </a:p>
        </p:txBody>
      </p:sp>
    </p:spTree>
    <p:extLst>
      <p:ext uri="{BB962C8B-B14F-4D97-AF65-F5344CB8AC3E}">
        <p14:creationId xmlns:p14="http://schemas.microsoft.com/office/powerpoint/2010/main" val="616811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2121-7956-97AA-B203-12CAC617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D10C8FA-89D4-CB6E-53F0-71BD57F6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problems</a:t>
            </a:r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246F347B-1718-2EC4-6C16-728FAD55A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C8C2437C-63CF-9569-DF6B-F20ED4C2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DFCF04BE-984E-300C-A476-FD51B703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109472-81BB-68DC-EBFD-4501EA447D59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28E19B-5400-2DC7-3E06-6E38A3EDAE36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5DF99-0EB7-6F91-196E-DCBE42BA0F56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ED7099-6E4B-85CF-9B54-F25832012C9B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pPr lvl="1"/>
            <a:r>
              <a:rPr lang="en-US" dirty="0"/>
              <a:t>cap = cv2.VideoCapture(0, cv2.CAP_AVFOUNDATION)</a:t>
            </a:r>
          </a:p>
          <a:p>
            <a:pPr lvl="1"/>
            <a:r>
              <a:rPr lang="en-GB" dirty="0"/>
              <a:t>Video runs faster than actual (different fps)</a:t>
            </a:r>
          </a:p>
        </p:txBody>
      </p:sp>
    </p:spTree>
    <p:extLst>
      <p:ext uri="{BB962C8B-B14F-4D97-AF65-F5344CB8AC3E}">
        <p14:creationId xmlns:p14="http://schemas.microsoft.com/office/powerpoint/2010/main" val="861472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25DD-B467-061D-15CD-0EA8593A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40AF0B3-5300-74ED-DA51-AA56FEF4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dirty="0"/>
              <a:t>Problems with </a:t>
            </a:r>
            <a:r>
              <a:rPr lang="en-GB" dirty="0" err="1"/>
              <a:t>haar</a:t>
            </a:r>
            <a:endParaRPr lang="en-GB" noProof="0" dirty="0"/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38F982D0-CDCC-AD60-0C89-266C29AF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1F5A4FF0-6620-A526-6040-DE2F4DE0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56D421FC-5E39-AA22-72C7-1D437B8A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54033D-8747-4E5D-26D5-001F60F06191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0DF8200-3310-94CF-2ADC-23A9753EF25B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05A84-F413-C812-8BA2-D7E43D2227B9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14F662-A67E-2DD3-BA74-AE1D066FF747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r>
              <a:rPr lang="en-GB" b="1" noProof="0" dirty="0"/>
              <a:t>Not Detecting when:</a:t>
            </a:r>
            <a:endParaRPr lang="en-GB" dirty="0"/>
          </a:p>
          <a:p>
            <a:pPr lvl="1"/>
            <a:r>
              <a:rPr lang="en-GB" dirty="0"/>
              <a:t>Part of the face is out of frame</a:t>
            </a:r>
          </a:p>
          <a:p>
            <a:pPr lvl="1"/>
            <a:r>
              <a:rPr lang="en-GB" dirty="0"/>
              <a:t>Face is not facing the camera</a:t>
            </a:r>
          </a:p>
          <a:p>
            <a:pPr lvl="1"/>
            <a:r>
              <a:rPr lang="en-GB" dirty="0"/>
              <a:t>Face is tilted</a:t>
            </a:r>
          </a:p>
          <a:p>
            <a:pPr lvl="1"/>
            <a:r>
              <a:rPr lang="en-GB" dirty="0"/>
              <a:t>Face is partially blocked by object (works when partially blocked by hand)</a:t>
            </a:r>
          </a:p>
          <a:p>
            <a:pPr lvl="1"/>
            <a:endParaRPr lang="en-GB" dirty="0"/>
          </a:p>
          <a:p>
            <a:r>
              <a:rPr lang="en-GB" b="1" dirty="0"/>
              <a:t>Other problems:</a:t>
            </a:r>
            <a:endParaRPr lang="en-GB" dirty="0"/>
          </a:p>
          <a:p>
            <a:pPr lvl="1"/>
            <a:r>
              <a:rPr lang="en-GB" dirty="0"/>
              <a:t>Sometimes detecting other objects as faces</a:t>
            </a:r>
          </a:p>
          <a:p>
            <a:pPr lvl="1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78683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30AA-86AC-669B-5C62-1BAEE20A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1FA0D6D-0D06-F9D6-1D03-9EF2AA6B7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Problems with </a:t>
            </a:r>
            <a:r>
              <a:rPr lang="en-GB" noProof="0" dirty="0" err="1"/>
              <a:t>dnn</a:t>
            </a:r>
            <a:endParaRPr lang="en-GB" noProof="0" dirty="0"/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95B46BD8-EC6D-8EF8-5E0D-F2C2981C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549FBE51-2EEF-37D5-75A3-473531BE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0D8779B1-4B89-5755-AA95-05789649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33B0F-21ED-5A96-A3ED-D571D63677A6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1994BA-DF0D-A5F7-A076-799FF634B2AD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0599C-31CC-C8CF-E7F0-6528FA1CF7BB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915E70-3129-7B4D-0860-BE1F05E4A619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r>
              <a:rPr lang="en-GB" b="1" dirty="0"/>
              <a:t>Not Detecting when:</a:t>
            </a:r>
            <a:endParaRPr lang="en-GB" dirty="0"/>
          </a:p>
          <a:p>
            <a:pPr lvl="1"/>
            <a:r>
              <a:rPr lang="en-GB" dirty="0"/>
              <a:t>Face is tilted</a:t>
            </a:r>
          </a:p>
          <a:p>
            <a:pPr lvl="1"/>
            <a:endParaRPr lang="en-GB" dirty="0"/>
          </a:p>
          <a:p>
            <a:r>
              <a:rPr lang="en-GB" b="1" dirty="0"/>
              <a:t>Other problems:</a:t>
            </a:r>
            <a:endParaRPr lang="en-GB" dirty="0"/>
          </a:p>
          <a:p>
            <a:pPr lvl="1"/>
            <a:r>
              <a:rPr lang="en-GB" dirty="0"/>
              <a:t>Sometimes detecting other objects as faces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62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FFDC-4591-A81A-4D7A-4EABD900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4B0E348-C731-6DCD-9BAD-0DCF2445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Options we have</a:t>
            </a:r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E8C34FBE-865D-AAA7-8459-D7AED3F8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CA8B31A4-9792-D9D6-6DDA-F839BFCE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C3F4D540-9723-BFEB-6E64-CA052B6D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6699FD-7C33-8053-C6A1-B9D20F99AA13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9A86947-7586-B038-EA50-7F37E3B30062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F2297-4AD2-3854-7436-451E94FE2BC2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CC19DC-23AE-84BB-67D9-2EB7F518C278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pPr lvl="1"/>
            <a:r>
              <a:rPr lang="en-GB" dirty="0"/>
              <a:t>Use Haar and add preprocessing</a:t>
            </a:r>
          </a:p>
          <a:p>
            <a:pPr lvl="1"/>
            <a:r>
              <a:rPr lang="en-GB" dirty="0"/>
              <a:t>Use DNN and add preprocessing</a:t>
            </a:r>
          </a:p>
          <a:p>
            <a:pPr lvl="1"/>
            <a:r>
              <a:rPr lang="en-GB" dirty="0"/>
              <a:t>Use both together, then </a:t>
            </a:r>
            <a:r>
              <a:rPr lang="en-GB"/>
              <a:t>add preprocessing??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775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Vertikaler Textplatzhalter 23"/>
          <p:cNvSpPr>
            <a:spLocks noGrp="1"/>
          </p:cNvSpPr>
          <p:nvPr>
            <p:ph type="body" orient="vert" idx="14"/>
          </p:nvPr>
        </p:nvSpPr>
        <p:spPr>
          <a:xfrm>
            <a:off x="3654795" y="2545120"/>
            <a:ext cx="4882409" cy="1915337"/>
          </a:xfrm>
        </p:spPr>
        <p:txBody>
          <a:bodyPr/>
          <a:lstStyle/>
          <a:p>
            <a:r>
              <a:rPr lang="en-GB" noProof="0" dirty="0"/>
              <a:t>Thank you!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2AECA44-6693-4EB7-B2B5-6A2C586F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90DBF1E-C4B8-4D3B-84CE-E6AD5C7E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034B9B7-B9EB-4395-8629-FCFEFC1B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15564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BCCA-F4DD-296B-B536-69E290D6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Vertikaler Textplatzhalter 23">
            <a:extLst>
              <a:ext uri="{FF2B5EF4-FFF2-40B4-BE49-F238E27FC236}">
                <a16:creationId xmlns:a16="http://schemas.microsoft.com/office/drawing/2014/main" id="{DA743A59-F84C-B3E9-6B8A-54C88A5B43E4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>
          <a:xfrm>
            <a:off x="2661479" y="2545120"/>
            <a:ext cx="6869042" cy="1915337"/>
          </a:xfrm>
        </p:spPr>
        <p:txBody>
          <a:bodyPr/>
          <a:lstStyle/>
          <a:p>
            <a:r>
              <a:rPr lang="en-GB" noProof="0" dirty="0"/>
              <a:t>Any questions?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8F0CBAD3-D920-5093-5618-4F28161A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9C8388DB-A54F-1C37-5264-D30C8CF1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339D03E-1F19-4A7B-61E0-F00772A9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8434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PT_HHN_16x9_DE_02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 | 40 | 150">
      <a:srgbClr val="002896"/>
    </a:custClr>
    <a:custClr name="0 | 159 | 213">
      <a:srgbClr val="009FD5"/>
    </a:custClr>
    <a:custClr name="0 | 114 |127">
      <a:srgbClr val="00727F"/>
    </a:custClr>
    <a:custClr name="255 | 158 | 0">
      <a:srgbClr val="FF9E00"/>
    </a:custClr>
    <a:custClr name="100 | 179 | 44">
      <a:srgbClr val="64B32C"/>
    </a:custClr>
    <a:custClr name="171 | 0 | 66">
      <a:srgbClr val="AB0042"/>
    </a:custClr>
    <a:custClr name="0 | 0 | 0">
      <a:srgbClr val="000000"/>
    </a:custClr>
    <a:custClr>
      <a:srgbClr val="FFFFFF"/>
    </a:custClr>
    <a:custClr name="255 | 255 | 255">
      <a:srgbClr val="FFFFFF"/>
    </a:custClr>
    <a:custClr name="255 | 255 | 255">
      <a:srgbClr val="FFFFFF"/>
    </a:custClr>
    <a:custClr name="102 | 126 | 192">
      <a:srgbClr val="667EC0"/>
    </a:custClr>
    <a:custClr name="96 | 198 | 239">
      <a:srgbClr val="60C6EF"/>
    </a:custClr>
    <a:custClr name="0 | 155 | 166">
      <a:srgbClr val="009BA6"/>
    </a:custClr>
    <a:custClr name="255 | 203 | 14">
      <a:srgbClr val="FFCB0E"/>
    </a:custClr>
    <a:custClr name="180 | 204 | 0">
      <a:srgbClr val="B4CC00"/>
    </a:custClr>
    <a:custClr name="220 | 55 | 105">
      <a:srgbClr val="DC3769"/>
    </a:custClr>
    <a:custClr name="116 | 116 | 116">
      <a:srgbClr val="747474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  <a:custClr name="153 | 168 | 214">
      <a:srgbClr val="99A8D6"/>
    </a:custClr>
    <a:custClr name="176 | 223 | 247">
      <a:srgbClr val="B0DFF7"/>
    </a:custClr>
    <a:custClr name="127 | 203 | 211">
      <a:srgbClr val="7FCBD3"/>
    </a:custClr>
    <a:custClr name="255 | 241 | 77">
      <a:srgbClr val="FFF14D"/>
    </a:custClr>
    <a:custClr name="234 | 228 | 72">
      <a:srgbClr val="EAE448"/>
    </a:custClr>
    <a:custClr name="235 | 142 | 178">
      <a:srgbClr val="EB8EB2"/>
    </a:custClr>
    <a:custClr name="188 | 188 | 188">
      <a:srgbClr val="BCBCBC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</a:custClrLst>
  <a:extLst>
    <a:ext uri="{05A4C25C-085E-4340-85A3-A5531E510DB2}">
      <thm15:themeFamily xmlns:thm15="http://schemas.microsoft.com/office/thememl/2012/main" name="Präsentation8" id="{0F21E387-B582-4D2F-8A48-CC6B64B7AE4B}" vid="{3FF51532-DEED-4DC4-B3A0-61070993AEC6}"/>
    </a:ext>
  </a:extLst>
</a:theme>
</file>

<file path=ppt/theme/theme2.xml><?xml version="1.0" encoding="utf-8"?>
<a:theme xmlns:a="http://schemas.openxmlformats.org/drawingml/2006/main" name="1_PPT_HHN_16x9_DE_02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 | 40 | 150">
      <a:srgbClr val="002896"/>
    </a:custClr>
    <a:custClr name="0 | 159 | 213">
      <a:srgbClr val="009FD5"/>
    </a:custClr>
    <a:custClr name="0 | 114 |127">
      <a:srgbClr val="00727F"/>
    </a:custClr>
    <a:custClr name="255 | 158 | 0">
      <a:srgbClr val="FF9E00"/>
    </a:custClr>
    <a:custClr name="100 | 179 | 44">
      <a:srgbClr val="64B32C"/>
    </a:custClr>
    <a:custClr name="171 | 0 | 66">
      <a:srgbClr val="AB0042"/>
    </a:custClr>
    <a:custClr name="0 | 0 | 0">
      <a:srgbClr val="000000"/>
    </a:custClr>
    <a:custClr>
      <a:srgbClr val="FFFFFF"/>
    </a:custClr>
    <a:custClr name="255 | 255 | 255">
      <a:srgbClr val="FFFFFF"/>
    </a:custClr>
    <a:custClr name="255 | 255 | 255">
      <a:srgbClr val="FFFFFF"/>
    </a:custClr>
    <a:custClr name="102 | 126 | 192">
      <a:srgbClr val="667EC0"/>
    </a:custClr>
    <a:custClr name="96 | 198 | 239">
      <a:srgbClr val="60C6EF"/>
    </a:custClr>
    <a:custClr name="0 | 155 | 166">
      <a:srgbClr val="009BA6"/>
    </a:custClr>
    <a:custClr name="255 | 203 | 14">
      <a:srgbClr val="FFCB0E"/>
    </a:custClr>
    <a:custClr name="180 | 204 | 0">
      <a:srgbClr val="B4CC00"/>
    </a:custClr>
    <a:custClr name="220 | 55 | 105">
      <a:srgbClr val="DC3769"/>
    </a:custClr>
    <a:custClr name="116 | 116 | 116">
      <a:srgbClr val="747474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  <a:custClr name="153 | 168 | 214">
      <a:srgbClr val="99A8D6"/>
    </a:custClr>
    <a:custClr name="176 | 223 | 247">
      <a:srgbClr val="B0DFF7"/>
    </a:custClr>
    <a:custClr name="127 | 203 | 211">
      <a:srgbClr val="7FCBD3"/>
    </a:custClr>
    <a:custClr name="255 | 241 | 77">
      <a:srgbClr val="FFF14D"/>
    </a:custClr>
    <a:custClr name="234 | 228 | 72">
      <a:srgbClr val="EAE448"/>
    </a:custClr>
    <a:custClr name="235 | 142 | 178">
      <a:srgbClr val="EB8EB2"/>
    </a:custClr>
    <a:custClr name="188 | 188 | 188">
      <a:srgbClr val="BCBCBC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</a:custClrLst>
  <a:extLst>
    <a:ext uri="{05A4C25C-085E-4340-85A3-A5531E510DB2}">
      <thm15:themeFamily xmlns:thm15="http://schemas.microsoft.com/office/thememl/2012/main" name="Präsentation8" id="{0F21E387-B582-4D2F-8A48-CC6B64B7AE4B}" vid="{D7A58EC6-61D0-460A-B578-B844656B215B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PPT_HHN_16x9_DE_02</Template>
  <TotalTime>2404</TotalTime>
  <Words>419</Words>
  <Application>Microsoft Macintosh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Wingdings</vt:lpstr>
      <vt:lpstr>PPT_HHN_16x9_DE_02</vt:lpstr>
      <vt:lpstr>1_PPT_HHN_16x9_DE_02</vt:lpstr>
      <vt:lpstr>Face Detection</vt:lpstr>
      <vt:lpstr>Goals</vt:lpstr>
      <vt:lpstr>Excel gantt chart</vt:lpstr>
      <vt:lpstr>problems</vt:lpstr>
      <vt:lpstr>problems</vt:lpstr>
      <vt:lpstr>Problems with haar</vt:lpstr>
      <vt:lpstr>Problems with dnn</vt:lpstr>
      <vt:lpstr>Options we have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Tamer Abdelaziz Mohamed Fahmy</dc:creator>
  <cp:lastModifiedBy>Omar Tamer Abdelaziz Mohamed Fahmy</cp:lastModifiedBy>
  <cp:revision>23</cp:revision>
  <dcterms:created xsi:type="dcterms:W3CDTF">2025-01-12T18:43:52Z</dcterms:created>
  <dcterms:modified xsi:type="dcterms:W3CDTF">2025-11-07T22:31:11Z</dcterms:modified>
</cp:coreProperties>
</file>